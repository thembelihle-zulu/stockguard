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A6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3721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6000" b="1" i="0">
                <a:solidFill>
                  <a:srgbClr val="1B2318"/>
                </a:solidFill>
                <a:latin typeface="Georgia"/>
              </a:rPr>
              <a:t>StockGuard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2400" b="0" i="0">
                <a:solidFill>
                  <a:srgbClr val="3A6B49"/>
                </a:solidFill>
                <a:latin typeface="Georgia"/>
              </a:rPr>
              <a:t>Livestock Insurance for South African Farmers</a:t>
            </a:r>
          </a:p>
          <a:p>
            <a:pPr algn="l">
              <a:spcBef>
                <a:spcPts val="1800"/>
              </a:spcBef>
              <a:spcAft>
                <a:spcPts val="0"/>
              </a:spcAft>
            </a:pPr>
            <a:r>
              <a:rPr sz="1600" b="0" i="0">
                <a:solidFill>
                  <a:srgbClr val="454E3E"/>
                </a:solidFill>
                <a:latin typeface="Calibri"/>
              </a:rPr>
              <a:t>Self-service cover that verifies what it insures — priced and paid out on a vet-verified animal value, not a number typed into a 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00"/>
            <a:ext cx="106372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300" b="0" i="0">
                <a:solidFill>
                  <a:srgbClr val="1B2318"/>
                </a:solidFill>
                <a:latin typeface="Consolas"/>
              </a:rPr>
              <a:t>Thembelihle Zulu</a:t>
            </a:r>
            <a:r>
              <a:rPr sz="1300" b="0" i="0">
                <a:solidFill>
                  <a:srgbClr val="8B8676"/>
                </a:solidFill>
                <a:latin typeface="Consolas"/>
              </a:rPr>
              <a:t>      Sanlam 2026 — Individual Capstone</a:t>
            </a:r>
            <a:r>
              <a:rPr sz="1300" b="0" i="0">
                <a:solidFill>
                  <a:srgbClr val="8B8676"/>
                </a:solidFill>
                <a:latin typeface="Consolas"/>
              </a:rPr>
              <a:t>      React · Flask · Microsoft SQL Server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372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00" b="1" i="0">
                <a:solidFill>
                  <a:srgbClr val="3A6B49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42855" y="45720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600"/>
              </a:spcBef>
              <a:spcAft>
                <a:spcPts val="0"/>
              </a:spcAft>
            </a:pPr>
            <a:r>
              <a:rPr sz="1200" b="0" i="0">
                <a:solidFill>
                  <a:srgbClr val="8B8676"/>
                </a:solidFill>
                <a:latin typeface="Consolas"/>
              </a:rPr>
              <a:t>02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63721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2700" b="1" i="0">
                <a:solidFill>
                  <a:srgbClr val="1B2318"/>
                </a:solidFill>
                <a:latin typeface="Georgia"/>
              </a:rPr>
              <a:t>An animal dying is a financial cliff-edge — and cover doesn't reach the farmers who need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1063721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500" b="0" i="0">
                <a:solidFill>
                  <a:srgbClr val="454E3E"/>
                </a:solidFill>
                <a:latin typeface="Calibri"/>
              </a:rPr>
              <a:t>South Africa's foot-and-mouth outbreak has hit 210,000+ cattle across 90+ dairy farms since 2024; beef exports fell 26% and recovery is estimated at up to four years. Existing livestock insurance is priced for large commercial operations and trusts a self-reported animal value — which drives mispricing and real fraud exposure.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023360"/>
            <a:ext cx="51206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100" b="1" i="0">
                <a:solidFill>
                  <a:srgbClr val="8B8676"/>
                </a:solidFill>
                <a:latin typeface="Consolas"/>
              </a:rPr>
              <a:t>WHO IT'S FOR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0" i="0">
                <a:solidFill>
                  <a:srgbClr val="454E3E"/>
                </a:solidFill>
                <a:latin typeface="Calibri"/>
              </a:rPr>
              <a:t>•  Small-scale farmers — simple, affordable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0" i="0">
                <a:solidFill>
                  <a:srgbClr val="454E3E"/>
                </a:solidFill>
                <a:latin typeface="Calibri"/>
              </a:rPr>
              <a:t>•  Commercial farmers — larger, higher-value herds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0" i="0">
                <a:solidFill>
                  <a:srgbClr val="454E3E"/>
                </a:solidFill>
                <a:latin typeface="Calibri"/>
              </a:rPr>
              <a:t>•  Platform admins — insurer staff who verify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4023360"/>
            <a:ext cx="49377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100" b="1" i="0">
                <a:solidFill>
                  <a:srgbClr val="8B8676"/>
                </a:solidFill>
                <a:latin typeface="Consolas"/>
              </a:rPr>
              <a:t>SCOPE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0" i="0">
                <a:solidFill>
                  <a:srgbClr val="454E3E"/>
                </a:solidFill>
                <a:latin typeface="Calibri"/>
              </a:rPr>
              <a:t>•  Registration → verification → underwriting → claims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0" i="0">
                <a:solidFill>
                  <a:srgbClr val="8B8676"/>
                </a:solidFill>
                <a:latin typeface="Calibri"/>
              </a:rPr>
              <a:t>–  Theft cover — nothing left to inspect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0" i="0">
                <a:solidFill>
                  <a:srgbClr val="8B8676"/>
                </a:solidFill>
                <a:latin typeface="Calibri"/>
              </a:rPr>
              <a:t>–  Live payment gateway — mocked by design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0" i="0">
                <a:solidFill>
                  <a:srgbClr val="8B8676"/>
                </a:solidFill>
                <a:latin typeface="Calibri"/>
              </a:rPr>
              <a:t>–  Multi-policy accounts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106372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900" b="0" i="0">
                <a:solidFill>
                  <a:srgbClr val="8B8676"/>
                </a:solidFill>
                <a:latin typeface="Consolas"/>
              </a:rPr>
              <a:t>StockGuard   ·   Thembelihle Zulu   ·   Sanlam 2026 Capstone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600"/>
              </a:spcBef>
              <a:spcAft>
                <a:spcPts val="0"/>
              </a:spcAft>
            </a:pPr>
            <a:r>
              <a:rPr sz="900" b="0" i="0">
                <a:solidFill>
                  <a:srgbClr val="8B8676"/>
                </a:solidFill>
                <a:latin typeface="Consolas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372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00" b="1" i="0">
                <a:solidFill>
                  <a:srgbClr val="3A6B49"/>
                </a:solidFill>
                <a:latin typeface="Consolas"/>
              </a:rPr>
              <a:t>THE END-TO-END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42855" y="45720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600"/>
              </a:spcBef>
              <a:spcAft>
                <a:spcPts val="0"/>
              </a:spcAft>
            </a:pPr>
            <a:r>
              <a:rPr sz="1200" b="0" i="0">
                <a:solidFill>
                  <a:srgbClr val="8B8676"/>
                </a:solidFill>
                <a:latin typeface="Consolas"/>
              </a:rPr>
              <a:t>03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63721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2600" b="1" i="0">
                <a:solidFill>
                  <a:srgbClr val="1B2318"/>
                </a:solidFill>
                <a:latin typeface="Georgia"/>
              </a:rPr>
              <a:t>One continuous flow, from “this is my farm” to a claim paid 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03120"/>
            <a:ext cx="1572768" cy="566928"/>
          </a:xfrm>
          <a:prstGeom prst="roundRect">
            <a:avLst/>
          </a:prstGeom>
          <a:solidFill>
            <a:srgbClr val="FFFEFB"/>
          </a:solidFill>
          <a:ln w="12700">
            <a:solidFill>
              <a:srgbClr val="D9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950" b="0" i="0">
                <a:solidFill>
                  <a:srgbClr val="1B2318"/>
                </a:solidFill>
                <a:latin typeface="Consolas"/>
              </a:rPr>
              <a:t>Sign 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2103120"/>
            <a:ext cx="1572768" cy="566928"/>
          </a:xfrm>
          <a:prstGeom prst="roundRect">
            <a:avLst/>
          </a:prstGeom>
          <a:solidFill>
            <a:srgbClr val="FFFEFB"/>
          </a:solidFill>
          <a:ln w="12700">
            <a:solidFill>
              <a:srgbClr val="D9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950" b="0" i="0">
                <a:solidFill>
                  <a:srgbClr val="1B2318"/>
                </a:solidFill>
                <a:latin typeface="Consolas"/>
              </a:rPr>
              <a:t>Farm profile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40" y="2103120"/>
            <a:ext cx="1572768" cy="566928"/>
          </a:xfrm>
          <a:prstGeom prst="roundRect">
            <a:avLst/>
          </a:prstGeom>
          <a:solidFill>
            <a:srgbClr val="FFFEFB"/>
          </a:solidFill>
          <a:ln w="12700">
            <a:solidFill>
              <a:srgbClr val="D9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950" b="0" i="0">
                <a:solidFill>
                  <a:srgbClr val="1B2318"/>
                </a:solidFill>
                <a:latin typeface="Consolas"/>
              </a:rPr>
              <a:t>Register livestock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2103120"/>
            <a:ext cx="1572768" cy="566928"/>
          </a:xfrm>
          <a:prstGeom prst="roundRect">
            <a:avLst/>
          </a:prstGeom>
          <a:solidFill>
            <a:srgbClr val="FFFEFB"/>
          </a:solidFill>
          <a:ln w="12700">
            <a:solidFill>
              <a:srgbClr val="D9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950" b="0" i="0">
                <a:solidFill>
                  <a:srgbClr val="1B2318"/>
                </a:solidFill>
                <a:latin typeface="Consolas"/>
              </a:rPr>
              <a:t>Inspection &amp; value check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2103120"/>
            <a:ext cx="1572768" cy="566928"/>
          </a:xfrm>
          <a:prstGeom prst="roundRect">
            <a:avLst/>
          </a:prstGeom>
          <a:solidFill>
            <a:srgbClr val="FFFEFB"/>
          </a:solidFill>
          <a:ln w="12700">
            <a:solidFill>
              <a:srgbClr val="D9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950" b="0" i="0">
                <a:solidFill>
                  <a:srgbClr val="1B2318"/>
                </a:solidFill>
                <a:latin typeface="Consolas"/>
              </a:rPr>
              <a:t>Policy: Pending → Active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2103120"/>
            <a:ext cx="1572768" cy="566928"/>
          </a:xfrm>
          <a:prstGeom prst="roundRect">
            <a:avLst/>
          </a:prstGeom>
          <a:solidFill>
            <a:srgbClr val="FFFEFB"/>
          </a:solidFill>
          <a:ln w="12700">
            <a:solidFill>
              <a:srgbClr val="D9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950" b="0" i="0">
                <a:solidFill>
                  <a:srgbClr val="1B2318"/>
                </a:solidFill>
                <a:latin typeface="Consolas"/>
              </a:rPr>
              <a:t>Claim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78440" y="2103120"/>
            <a:ext cx="1572768" cy="566928"/>
          </a:xfrm>
          <a:prstGeom prst="roundRect">
            <a:avLst/>
          </a:prstGeom>
          <a:solidFill>
            <a:srgbClr val="FFFEFB"/>
          </a:solidFill>
          <a:ln w="12700">
            <a:solidFill>
              <a:srgbClr val="D9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950" b="0" i="0">
                <a:solidFill>
                  <a:srgbClr val="1B2318"/>
                </a:solidFill>
                <a:latin typeface="Consolas"/>
              </a:rPr>
              <a:t>Payout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00400"/>
            <a:ext cx="5486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100" b="1" i="0">
                <a:solidFill>
                  <a:srgbClr val="8B8676"/>
                </a:solidFill>
                <a:latin typeface="Consolas"/>
              </a:rPr>
              <a:t>CORE FEATURES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0" i="0">
                <a:solidFill>
                  <a:srgbClr val="454E3E"/>
                </a:solidFill>
                <a:latin typeface="Calibri"/>
              </a:rPr>
              <a:t>•  Insurance-readiness dashboard — live from real data, not decoration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0" i="0">
                <a:solidFill>
                  <a:srgbClr val="454E3E"/>
                </a:solidFill>
                <a:latin typeface="Calibri"/>
              </a:rPr>
              <a:t>•  Admin review workflow — inspections, value approval, claims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0" i="0">
                <a:solidFill>
                  <a:srgbClr val="454E3E"/>
                </a:solidFill>
                <a:latin typeface="Calibri"/>
              </a:rPr>
              <a:t>•  Payment-gated activation — no cover until it's paid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200400"/>
            <a:ext cx="46634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100" b="1" i="0">
                <a:solidFill>
                  <a:srgbClr val="8B8676"/>
                </a:solidFill>
                <a:latin typeface="Consolas"/>
              </a:rPr>
              <a:t>TODAY'S LIVE DEMO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0" i="0">
                <a:solidFill>
                  <a:srgbClr val="454E3E"/>
                </a:solidFill>
                <a:latin typeface="Calibri"/>
              </a:rPr>
              <a:t>•  The farmer journey, end to end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0" i="0">
                <a:solidFill>
                  <a:srgbClr val="454E3E"/>
                </a:solidFill>
                <a:latin typeface="Calibri"/>
              </a:rPr>
              <a:t>•  Across three seeded accounts at three stages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0" i="0">
                <a:solidFill>
                  <a:srgbClr val="454E3E"/>
                </a:solidFill>
                <a:latin typeface="Calibri"/>
              </a:rPr>
              <a:t>•  Plus the admin review side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400800"/>
            <a:ext cx="106372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900" b="0" i="0">
                <a:solidFill>
                  <a:srgbClr val="8B8676"/>
                </a:solidFill>
                <a:latin typeface="Consolas"/>
              </a:rPr>
              <a:t>StockGuard   ·   Thembelihle Zulu   ·   Sanlam 2026 Capstone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600"/>
              </a:spcBef>
              <a:spcAft>
                <a:spcPts val="0"/>
              </a:spcAft>
            </a:pPr>
            <a:r>
              <a:rPr sz="900" b="0" i="0">
                <a:solidFill>
                  <a:srgbClr val="8B8676"/>
                </a:solidFill>
                <a:latin typeface="Consolas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372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00" b="1" i="0">
                <a:solidFill>
                  <a:srgbClr val="3A6B49"/>
                </a:solidFill>
                <a:latin typeface="Consolas"/>
              </a:rPr>
              <a:t>ARCHITECTURE &amp; THE DECISION THAT MATTERS MOST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42855" y="45720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600"/>
              </a:spcBef>
              <a:spcAft>
                <a:spcPts val="0"/>
              </a:spcAft>
            </a:pPr>
            <a:r>
              <a:rPr sz="1200" b="0" i="0">
                <a:solidFill>
                  <a:srgbClr val="8B8676"/>
                </a:solidFill>
                <a:latin typeface="Consolas"/>
              </a:rPr>
              <a:t>04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51560"/>
            <a:ext cx="3383280" cy="868680"/>
          </a:xfrm>
          <a:prstGeom prst="rect">
            <a:avLst/>
          </a:prstGeom>
          <a:solidFill>
            <a:srgbClr val="FFFEFB"/>
          </a:solidFill>
          <a:ln w="12700">
            <a:solidFill>
              <a:srgbClr val="D9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400" b="1" i="0">
                <a:solidFill>
                  <a:srgbClr val="1B2318"/>
                </a:solidFill>
                <a:latin typeface="Consolas"/>
              </a:rPr>
              <a:t>React (Vite)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8B8676"/>
                </a:solidFill>
                <a:latin typeface="Consolas"/>
              </a:rPr>
              <a:t>MUI · Formik / Yup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344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800" b="0" i="0">
                <a:solidFill>
                  <a:srgbClr val="8B8676"/>
                </a:solidFill>
                <a:latin typeface="Calibri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4544568" y="1051560"/>
            <a:ext cx="3383280" cy="868680"/>
          </a:xfrm>
          <a:prstGeom prst="rect">
            <a:avLst/>
          </a:prstGeom>
          <a:solidFill>
            <a:srgbClr val="F6F4EE"/>
          </a:solidFill>
          <a:ln w="12700">
            <a:solidFill>
              <a:srgbClr val="D9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400" b="1" i="0">
                <a:solidFill>
                  <a:srgbClr val="1B2318"/>
                </a:solidFill>
                <a:latin typeface="Consolas"/>
              </a:rPr>
              <a:t>Flask REST API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8B8676"/>
                </a:solidFill>
                <a:latin typeface="Consolas"/>
              </a:rPr>
              <a:t>blueprint per resource · JWT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82128" y="12344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800" b="0" i="0">
                <a:solidFill>
                  <a:srgbClr val="8B8676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8311896" y="1051560"/>
            <a:ext cx="3383280" cy="868680"/>
          </a:xfrm>
          <a:prstGeom prst="rect">
            <a:avLst/>
          </a:prstGeom>
          <a:solidFill>
            <a:srgbClr val="FFFEFB"/>
          </a:solidFill>
          <a:ln w="12700">
            <a:solidFill>
              <a:srgbClr val="D9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400" b="1" i="0">
                <a:solidFill>
                  <a:srgbClr val="1B2318"/>
                </a:solidFill>
                <a:latin typeface="Consolas"/>
              </a:rPr>
              <a:t>Microsoft SQL Server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8B8676"/>
                </a:solidFill>
                <a:latin typeface="Consolas"/>
              </a:rPr>
              <a:t>SQLAlchemy 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10637215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400" b="0" i="0">
                <a:solidFill>
                  <a:srgbClr val="454E3E"/>
                </a:solidFill>
                <a:latin typeface="Calibri"/>
              </a:rPr>
              <a:t>Every protected route derives the farm from the JWT, never from the request — a client can't act on another farm by editing a URL or body. Cross-farm reads return 404, not 403.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29000"/>
            <a:ext cx="106372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100" b="1" i="0">
                <a:solidFill>
                  <a:srgbClr val="8B8676"/>
                </a:solidFill>
                <a:latin typeface="Consolas"/>
              </a:rPr>
              <a:t>A CLAIM PAYS OUT ONLY IF ALL THREE SERVER-ENFORCED CHECKS PASS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840480"/>
            <a:ext cx="10637215" cy="566928"/>
          </a:xfrm>
          <a:prstGeom prst="rect">
            <a:avLst/>
          </a:prstGeom>
          <a:solidFill>
            <a:srgbClr val="F0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350" b="0" i="0">
                <a:solidFill>
                  <a:srgbClr val="1B2318"/>
                </a:solidFill>
                <a:latin typeface="Calibri"/>
              </a:rPr>
              <a:t>1    The farm's policy status is Active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498848"/>
            <a:ext cx="10637215" cy="566928"/>
          </a:xfrm>
          <a:prstGeom prst="rect">
            <a:avLst/>
          </a:prstGeom>
          <a:solidFill>
            <a:srgbClr val="F0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350" b="0" i="0">
                <a:solidFill>
                  <a:srgbClr val="1B2318"/>
                </a:solidFill>
                <a:latin typeface="Calibri"/>
              </a:rPr>
              <a:t>2    That specific animal's inspection is Approved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157216"/>
            <a:ext cx="10637215" cy="566928"/>
          </a:xfrm>
          <a:prstGeom prst="rect">
            <a:avLst/>
          </a:prstGeom>
          <a:solidFill>
            <a:srgbClr val="F0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350" b="0" i="0">
                <a:solidFill>
                  <a:srgbClr val="1B2318"/>
                </a:solidFill>
                <a:latin typeface="Calibri"/>
              </a:rPr>
              <a:t>3    Claim amount ≤ the admin-approved insured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943600"/>
            <a:ext cx="106372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100" b="0" i="0">
                <a:solidFill>
                  <a:srgbClr val="3A6B49"/>
                </a:solidFill>
                <a:latin typeface="Consolas"/>
              </a:rPr>
              <a:t>Mocked on purpose: payment — the data model already matches a real gateway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400800"/>
            <a:ext cx="106372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900" b="0" i="0">
                <a:solidFill>
                  <a:srgbClr val="8B8676"/>
                </a:solidFill>
                <a:latin typeface="Consolas"/>
              </a:rPr>
              <a:t>StockGuard   ·   Thembelihle Zulu   ·   Sanlam 2026 Capstone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17175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600"/>
              </a:spcBef>
              <a:spcAft>
                <a:spcPts val="0"/>
              </a:spcAft>
            </a:pPr>
            <a:r>
              <a:rPr sz="900" b="0" i="0">
                <a:solidFill>
                  <a:srgbClr val="8B8676"/>
                </a:solidFill>
                <a:latin typeface="Consolas"/>
              </a:rP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A6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63721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300" b="1" i="0">
                <a:solidFill>
                  <a:srgbClr val="3A6B49"/>
                </a:solidFill>
                <a:latin typeface="Consolas"/>
              </a:rPr>
              <a:t>LIVE DEMONSTRATION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4000" b="1" i="0">
                <a:solidFill>
                  <a:srgbClr val="1B2318"/>
                </a:solidFill>
                <a:latin typeface="Georgia"/>
              </a:rPr>
              <a:t>The farmer journey, end to 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383280"/>
            <a:ext cx="10637215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100" b="1" i="0">
                <a:solidFill>
                  <a:srgbClr val="8B8676"/>
                </a:solidFill>
                <a:latin typeface="Consolas"/>
              </a:rPr>
              <a:t>WATCH FOR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0" i="0">
                <a:solidFill>
                  <a:srgbClr val="454E3E"/>
                </a:solidFill>
                <a:latin typeface="Calibri"/>
              </a:rPr>
              <a:t>•  Registering an animal auto-chains into its inspection — no separate step to forget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0" i="0">
                <a:solidFill>
                  <a:srgbClr val="454E3E"/>
                </a:solidFill>
                <a:latin typeface="Calibri"/>
              </a:rPr>
              <a:t>•  The readiness dashboard updates from real API data, live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0" i="0">
                <a:solidFill>
                  <a:srgbClr val="454E3E"/>
                </a:solidFill>
                <a:latin typeface="Calibri"/>
              </a:rPr>
              <a:t>•  An ineligible animal is blocked in the claim form and rejected server-side if you bypass the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577840"/>
            <a:ext cx="106372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300" b="0" i="0">
                <a:solidFill>
                  <a:srgbClr val="3A6B49"/>
                </a:solidFill>
                <a:latin typeface="Consolas"/>
              </a:rPr>
              <a:t>Switching to the running application — ~6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106372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900" b="0" i="0">
                <a:solidFill>
                  <a:srgbClr val="8B8676"/>
                </a:solidFill>
                <a:latin typeface="Consolas"/>
              </a:rPr>
              <a:t>StockGuard   ·   Thembelihle Zulu   ·   Sanlam 2026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600"/>
              </a:spcBef>
              <a:spcAft>
                <a:spcPts val="0"/>
              </a:spcAft>
            </a:pPr>
            <a:r>
              <a:rPr sz="900" b="0" i="0">
                <a:solidFill>
                  <a:srgbClr val="8B8676"/>
                </a:solidFill>
                <a:latin typeface="Consolas"/>
              </a:rP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372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00" b="1" i="0">
                <a:solidFill>
                  <a:srgbClr val="3A6B49"/>
                </a:solidFill>
                <a:latin typeface="Consolas"/>
              </a:rPr>
              <a:t>SECURITY, VALIDATION, TESTING — AND ONE REAL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42855" y="45720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600"/>
              </a:spcBef>
              <a:spcAft>
                <a:spcPts val="0"/>
              </a:spcAft>
            </a:pPr>
            <a:r>
              <a:rPr sz="1200" b="0" i="0">
                <a:solidFill>
                  <a:srgbClr val="8B8676"/>
                </a:solidFill>
                <a:latin typeface="Consolas"/>
              </a:rPr>
              <a:t>06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54864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100" b="1" i="0">
                <a:solidFill>
                  <a:srgbClr val="8B8676"/>
                </a:solidFill>
                <a:latin typeface="Consolas"/>
              </a:rPr>
              <a:t>SECURITY &amp; VALIDATION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0" i="0">
                <a:solidFill>
                  <a:srgbClr val="454E3E"/>
                </a:solidFill>
                <a:latin typeface="Calibri"/>
              </a:rPr>
              <a:t>•  JWT ownership check on every protected route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0" i="0">
                <a:solidFill>
                  <a:srgbClr val="454E3E"/>
                </a:solidFill>
                <a:latin typeface="Calibri"/>
              </a:rPr>
              <a:t>•  Passwords hashed (werkzeug); login can't enumerate accounts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0" i="0">
                <a:solidFill>
                  <a:srgbClr val="454E3E"/>
                </a:solidFill>
                <a:latin typeface="Calibri"/>
              </a:rPr>
              <a:t>•  Yup client-side, mirrored by server checks that don't trust the client — claim cap, status rules, ISO-date parsing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1097280"/>
            <a:ext cx="46634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100" b="1" i="0">
                <a:solidFill>
                  <a:srgbClr val="8B8676"/>
                </a:solidFill>
                <a:latin typeface="Consolas"/>
              </a:rPr>
              <a:t>TESTING — MANUAL, AND HONEST ABOUT IT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0" i="0">
                <a:solidFill>
                  <a:srgbClr val="454E3E"/>
                </a:solidFill>
                <a:latin typeface="Calibri"/>
              </a:rPr>
              <a:t>•  Every workflow walked by hand against a seeded database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0" i="0">
                <a:solidFill>
                  <a:srgbClr val="454E3E"/>
                </a:solidFill>
                <a:latin typeface="Calibri"/>
              </a:rPr>
              <a:t>•  Three demo farms staged so success / empty / failure states are all reachable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0" i="0">
                <a:solidFill>
                  <a:srgbClr val="8B8676"/>
                </a:solidFill>
                <a:latin typeface="Calibri"/>
              </a:rPr>
              <a:t>–  No automated suite yet — the claim-eligibility gate is where I'd start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794760"/>
            <a:ext cx="10637215" cy="15240"/>
          </a:xfrm>
          <a:prstGeom prst="rect">
            <a:avLst/>
          </a:prstGeom>
          <a:solidFill>
            <a:srgbClr val="D9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977639"/>
            <a:ext cx="10637215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100" b="1" i="0">
                <a:solidFill>
                  <a:srgbClr val="8B8676"/>
                </a:solidFill>
                <a:latin typeface="Consolas"/>
              </a:rPr>
              <a:t>THE CHALLENGE I SOLVED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 i="0">
                <a:solidFill>
                  <a:srgbClr val="454E3E"/>
                </a:solidFill>
                <a:latin typeface="Calibri"/>
              </a:rPr>
              <a:t>The claim gate was already correct server-side — but the UI let a farmer fill in the entire claim form before the 403 came back. Correct isn't the same as usable. I added a pre-check that tells the farmer exactly what's missing — no policy, policy not active, identity not on file — before the form opens.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106372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900" b="0" i="0">
                <a:solidFill>
                  <a:srgbClr val="8B8676"/>
                </a:solidFill>
                <a:latin typeface="Consolas"/>
              </a:rPr>
              <a:t>StockGuard   ·   Thembelihle Zulu   ·   Sanlam 2026 Capstone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600"/>
              </a:spcBef>
              <a:spcAft>
                <a:spcPts val="0"/>
              </a:spcAft>
            </a:pPr>
            <a:r>
              <a:rPr sz="900" b="0" i="0">
                <a:solidFill>
                  <a:srgbClr val="8B8676"/>
                </a:solidFill>
                <a:latin typeface="Consolas"/>
              </a:rP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372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00" b="1" i="0">
                <a:solidFill>
                  <a:srgbClr val="3A6B49"/>
                </a:solidFill>
                <a:latin typeface="Consolas"/>
              </a:rPr>
              <a:t>DEPLOYMENT &amp; DELIVERY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42855" y="45720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600"/>
              </a:spcBef>
              <a:spcAft>
                <a:spcPts val="0"/>
              </a:spcAft>
            </a:pPr>
            <a:r>
              <a:rPr sz="1200" b="0" i="0">
                <a:solidFill>
                  <a:srgbClr val="8B8676"/>
                </a:solidFill>
                <a:latin typeface="Consolas"/>
              </a:rPr>
              <a:t>07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6372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2500" b="1" i="0">
                <a:solidFill>
                  <a:srgbClr val="1B2318"/>
                </a:solidFill>
                <a:latin typeface="Georgia"/>
              </a:rPr>
              <a:t>A reproducible stack now; the cloud pipeline built on the training.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5486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100" b="1" i="0">
                <a:solidFill>
                  <a:srgbClr val="8B8676"/>
                </a:solidFill>
                <a:latin typeface="Consolas"/>
              </a:rPr>
              <a:t>IN PLACE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0" i="0">
                <a:solidFill>
                  <a:srgbClr val="454E3E"/>
                </a:solidFill>
                <a:latin typeface="Calibri"/>
              </a:rPr>
              <a:t>•  Working local stack: React ⇄ Flask ⇄ SQL Server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0" i="0">
                <a:solidFill>
                  <a:srgbClr val="454E3E"/>
                </a:solidFill>
                <a:latin typeface="Calibri"/>
              </a:rPr>
              <a:t>•  Reproducible database: schema.sql + re-runnable seed.py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0" i="0">
                <a:solidFill>
                  <a:srgbClr val="454E3E"/>
                </a:solidFill>
                <a:latin typeface="Calibri"/>
              </a:rPr>
              <a:t>•  Two repos, README, API reference, technical summary — all in-repo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2103120"/>
            <a:ext cx="46634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100" b="1" i="0">
                <a:solidFill>
                  <a:srgbClr val="8B8676"/>
                </a:solidFill>
                <a:latin typeface="Consolas"/>
              </a:rPr>
              <a:t>IN PROGRESS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0" i="0">
                <a:solidFill>
                  <a:srgbClr val="8B8676"/>
                </a:solidFill>
                <a:latin typeface="Calibri"/>
              </a:rPr>
              <a:t>–  Docker — containerise both services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0" i="0">
                <a:solidFill>
                  <a:srgbClr val="8B8676"/>
                </a:solidFill>
                <a:latin typeface="Calibri"/>
              </a:rPr>
              <a:t>–  GitHub Actions — build + checks on push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0" i="0">
                <a:solidFill>
                  <a:srgbClr val="8B8676"/>
                </a:solidFill>
                <a:latin typeface="Calibri"/>
              </a:rPr>
              <a:t>–  Terraform — the AWS stack as code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0" i="0">
                <a:solidFill>
                  <a:srgbClr val="8B8676"/>
                </a:solidFill>
                <a:latin typeface="Calibri"/>
              </a:rPr>
              <a:t>–  AWS — deploy, wire a working URL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29200"/>
            <a:ext cx="1063721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350" b="0" i="0">
                <a:solidFill>
                  <a:srgbClr val="454E3E"/>
                </a:solidFill>
                <a:latin typeface="Calibri"/>
              </a:rPr>
              <a:t>The application carries 62% of the marks, so I built it first, then applied the cloud training — Terraform describes the AWS stack once, in code, instead of a manual click-through: GitHub change → CI → image → Terraform-managed AWS service.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106372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900" b="0" i="0">
                <a:solidFill>
                  <a:srgbClr val="8B8676"/>
                </a:solidFill>
                <a:latin typeface="Consolas"/>
              </a:rPr>
              <a:t>StockGuard   ·   Thembelihle Zulu   ·   Sanlam 2026 Capstone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600"/>
              </a:spcBef>
              <a:spcAft>
                <a:spcPts val="0"/>
              </a:spcAft>
            </a:pPr>
            <a:r>
              <a:rPr sz="900" b="0" i="0">
                <a:solidFill>
                  <a:srgbClr val="8B8676"/>
                </a:solidFill>
                <a:latin typeface="Consolas"/>
              </a:rP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372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00" b="1" i="0">
                <a:solidFill>
                  <a:srgbClr val="3A6B49"/>
                </a:solidFill>
                <a:latin typeface="Consolas"/>
              </a:rPr>
              <a:t>PERSONAL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42855" y="45720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600"/>
              </a:spcBef>
              <a:spcAft>
                <a:spcPts val="0"/>
              </a:spcAft>
            </a:pPr>
            <a:r>
              <a:rPr sz="1200" b="0" i="0">
                <a:solidFill>
                  <a:srgbClr val="8B8676"/>
                </a:solidFill>
                <a:latin typeface="Consolas"/>
              </a:rPr>
              <a:t>08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6372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2500" b="1" i="0">
                <a:solidFill>
                  <a:srgbClr val="1B2318"/>
                </a:solidFill>
                <a:latin typeface="Georgia"/>
              </a:rPr>
              <a:t>What the training changed about how I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37215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050" b="1" i="0">
                <a:solidFill>
                  <a:srgbClr val="3A6B49"/>
                </a:solidFill>
                <a:latin typeface="Consolas"/>
              </a:rPr>
              <a:t>WHERE I STARTED STRONG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50" b="0" i="0">
                <a:solidFill>
                  <a:srgbClr val="454E3E"/>
                </a:solidFill>
                <a:latin typeface="Calibri"/>
              </a:rPr>
              <a:t>The backend — Flask, REST API design, SQL data modelling and auth. This is where I was most comfortable from day one and where I did my sharpest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44368"/>
            <a:ext cx="10637215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050" b="1" i="0">
                <a:solidFill>
                  <a:srgbClr val="3A6B49"/>
                </a:solidFill>
                <a:latin typeface="Consolas"/>
              </a:rPr>
              <a:t>A SHIFT I DIDN'T EXPECT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50" b="0" i="0">
                <a:solidFill>
                  <a:srgbClr val="454E3E"/>
                </a:solidFill>
                <a:latin typeface="Calibri"/>
              </a:rPr>
              <a:t>I went in not expecting to enjoy frontend work. React changed that — thinking in components, and using hooks and state, made building the UI feel structured rather than fiddly.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059936"/>
            <a:ext cx="10637215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050" b="1" i="0">
                <a:solidFill>
                  <a:srgbClr val="3A6B49"/>
                </a:solidFill>
                <a:latin typeface="Consolas"/>
              </a:rPr>
              <a:t>THE HARDEST PART, AND MY RESPONSE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50" b="0" i="0">
                <a:solidFill>
                  <a:srgbClr val="454E3E"/>
                </a:solidFill>
                <a:latin typeface="Calibri"/>
              </a:rPr>
              <a:t>Deploying to AWS — the number of services and manual console steps to wire together, and how easy it is to get one wrong. I leaned into Terraform so the whole stack is written once, in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175504"/>
            <a:ext cx="10637215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050" b="1" i="0">
                <a:solidFill>
                  <a:srgbClr val="3A6B49"/>
                </a:solidFill>
                <a:latin typeface="Consolas"/>
              </a:rPr>
              <a:t>KEY LEARNING &amp; NEXT GOAL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50" b="0" i="0">
                <a:solidFill>
                  <a:srgbClr val="454E3E"/>
                </a:solidFill>
                <a:latin typeface="Calibri"/>
              </a:rPr>
              <a:t>Infrastructure as code: a Terraform config is repeatable and reviewable, not a click-through I have to redo from memory. Next I want to go deeper on the two areas that surprised me most — React patterns and Terraform modules.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00800"/>
            <a:ext cx="106372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900" b="0" i="0">
                <a:solidFill>
                  <a:srgbClr val="8B8676"/>
                </a:solidFill>
                <a:latin typeface="Consolas"/>
              </a:rPr>
              <a:t>StockGuard   ·   Thembelihle Zulu   ·   Sanlam 2026 Capstone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17175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600"/>
              </a:spcBef>
              <a:spcAft>
                <a:spcPts val="0"/>
              </a:spcAft>
            </a:pPr>
            <a:r>
              <a:rPr sz="900" b="0" i="0">
                <a:solidFill>
                  <a:srgbClr val="8B8676"/>
                </a:solidFill>
                <a:latin typeface="Consolas"/>
              </a:rP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