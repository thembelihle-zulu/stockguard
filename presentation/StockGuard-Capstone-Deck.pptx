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A6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1051560"/>
            <a:ext cx="280416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463040"/>
            <a:ext cx="7498079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5800" b="1" i="0">
                <a:solidFill>
                  <a:srgbClr val="1B2318"/>
                </a:solidFill>
                <a:latin typeface="Georgia"/>
              </a:rPr>
              <a:t>StockGuard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2200" b="0" i="0">
                <a:solidFill>
                  <a:srgbClr val="3A6B49"/>
                </a:solidFill>
                <a:latin typeface="Georgia"/>
              </a:rPr>
              <a:t>Livestock Insurance for South African Farmers</a:t>
            </a:r>
          </a:p>
          <a:p>
            <a:pPr algn="l">
              <a:spcBef>
                <a:spcPts val="16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Self-service cover that verifies what it insures — priced and paid out on a vet-verified animal value, not a number typed into a 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1B2318"/>
                </a:solidFill>
                <a:latin typeface="Consolas"/>
              </a:rPr>
              <a:t>Thembelihle Zulu</a:t>
            </a:r>
            <a:r>
              <a:rPr sz="1300" b="0" i="0">
                <a:solidFill>
                  <a:srgbClr val="8B8676"/>
                </a:solidFill>
                <a:latin typeface="Consolas"/>
              </a:rPr>
              <a:t>      Sanlam 2026 — Individual Capstone</a:t>
            </a:r>
            <a:r>
              <a:rPr sz="1300" b="0" i="0">
                <a:solidFill>
                  <a:srgbClr val="8B8676"/>
                </a:solidFill>
                <a:latin typeface="Consolas"/>
              </a:rPr>
              <a:t>      React · Flask · Microsoft SQL 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372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3A6B49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51415" y="45720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8B8676"/>
                </a:solidFill>
                <a:latin typeface="Consolas"/>
              </a:rPr>
              <a:t>02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700" b="1" i="0">
                <a:solidFill>
                  <a:srgbClr val="1B2318"/>
                </a:solidFill>
                <a:latin typeface="Georgia"/>
              </a:rPr>
              <a:t>An animal dying is a financial cliff-edge — and cover doesn't reach the farmers who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3721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South Africa's foot-and-mouth outbreak has hit 210,000+ cattle across 90+ dairy farms since 2024; beef exports fell 26% and recovery is estimated at up to four years. Existing livestock insurance is priced for large commercial operations and trusts a self-reported animal value — which drives mispricing and real fraud exposure.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WHO IT'S FOR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Small-scale farmers — simple, affordable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Commercial farmers — larger, higher-value herds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Platform admins — insurer staff who 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402336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SCOPE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Registration → verification → underwriting → claims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8B8676"/>
                </a:solidFill>
                <a:latin typeface="Calibri"/>
              </a:rPr>
              <a:t>–  Theft cover — nothing left to inspect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8B8676"/>
                </a:solidFill>
                <a:latin typeface="Calibri"/>
              </a:rPr>
              <a:t>–  Live payment gateway — mocked by design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8B8676"/>
                </a:solidFill>
                <a:latin typeface="Calibri"/>
              </a:rPr>
              <a:t>–  Multi-policy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372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3A6B49"/>
                </a:solidFill>
                <a:latin typeface="Consolas"/>
              </a:rPr>
              <a:t>THE END-TO-END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51415" y="45720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8B8676"/>
                </a:solidFill>
                <a:latin typeface="Consolas"/>
              </a:rPr>
              <a:t>03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600" b="1" i="0">
                <a:solidFill>
                  <a:srgbClr val="1B2318"/>
                </a:solidFill>
                <a:latin typeface="Georgia"/>
              </a:rPr>
              <a:t>One continuous flow, from “this is my farm” to a claim paid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Sign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Farm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Register livestock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Inspection &amp; value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Policy: Pending → 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Claim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78440" y="2103120"/>
            <a:ext cx="1572768" cy="566928"/>
          </a:xfrm>
          <a:prstGeom prst="round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1B2318"/>
                </a:solidFill>
                <a:latin typeface="Consolas"/>
              </a:rPr>
              <a:t>Payout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00400"/>
            <a:ext cx="5486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CORE FEATURES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Insurance-readiness dashboard — live from real data, not decoration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Admin review workflow — inspections, value approval, claims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Payment-gated activation — no cover until it's paid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200400"/>
            <a:ext cx="4663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TODAY'S LIVE DEMO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The farmer journey, end to end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Across three seeded accounts at three stages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Plus the admin review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372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3A6B49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51415" y="45720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8B8676"/>
                </a:solidFill>
                <a:latin typeface="Consolas"/>
              </a:rPr>
              <a:t>04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600" b="1" i="0">
                <a:solidFill>
                  <a:srgbClr val="1B2318"/>
                </a:solidFill>
                <a:latin typeface="Georgia"/>
              </a:rPr>
              <a:t>Three layers — each chosen for a reason.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200400" cy="1371600"/>
          </a:xfrm>
          <a:prstGeom prst="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50" b="1" i="0">
                <a:solidFill>
                  <a:srgbClr val="1B2318"/>
                </a:solidFill>
                <a:latin typeface="Consolas"/>
              </a:rPr>
              <a:t>React (with Vite)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83080"/>
            <a:ext cx="707105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The farmer side is a multi-step journey and the admin side is a data-heavy console — a component model keeps both maintainable, and Vite gives instant feedback while building. MUI + Formik/Yup for accessible forms that validate before they submit.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319272"/>
            <a:ext cx="3200400" cy="1371600"/>
          </a:xfrm>
          <a:prstGeom prst="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50" b="1" i="0">
                <a:solidFill>
                  <a:srgbClr val="1B2318"/>
                </a:solidFill>
                <a:latin typeface="Consolas"/>
              </a:rPr>
              <a:t>Flask REST API (Python)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319272"/>
            <a:ext cx="707105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Small and explicit: one blueprint per resource keeps the API readable and the business rules easy to find. SQLAlchemy for safe, parameterised queries; Flask-JWT-Extended for stateless auth where every route derives the farm from the token.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855464"/>
            <a:ext cx="3200400" cy="1371600"/>
          </a:xfrm>
          <a:prstGeom prst="rect">
            <a:avLst/>
          </a:prstGeom>
          <a:solidFill>
            <a:srgbClr val="FFFEFB"/>
          </a:solidFill>
          <a:ln w="12700">
            <a:solidFill>
              <a:srgbClr val="D9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01600"/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50" b="1" i="0">
                <a:solidFill>
                  <a:srgbClr val="1B2318"/>
                </a:solidFill>
                <a:latin typeface="Consolas"/>
              </a:rPr>
              <a:t>Microsoft SQL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855464"/>
            <a:ext cx="707105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The domain is naturally relational — farm → animals → inspections → claims, plus policies and payments — and it moves money and policy state, so foreign keys, constraints and transactions doing the enforcing matters more than raw flexibility.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A6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1" i="0">
                <a:solidFill>
                  <a:srgbClr val="3A6B49"/>
                </a:solidFill>
                <a:latin typeface="Consolas"/>
              </a:rPr>
              <a:t>LIVE DEMONSTRATION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4000" b="1" i="0">
                <a:solidFill>
                  <a:srgbClr val="1B2318"/>
                </a:solidFill>
                <a:latin typeface="Georgia"/>
              </a:rPr>
              <a:t>The farmer journey, end to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WATCH FOR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Registering an animal auto-chains into its inspection — no separate step to forget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The readiness dashboard updates from real API data, live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An ineligible animal is blocked in the claim form and rejected server-side if you bypass the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3A6B49"/>
                </a:solidFill>
                <a:latin typeface="Consolas"/>
              </a:rPr>
              <a:t>Switching to the running application — ~6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372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3A6B49"/>
                </a:solidFill>
                <a:latin typeface="Consolas"/>
              </a:rPr>
              <a:t>SECURITY, VALIDATION, TESTING — AND ONE REAL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51415" y="45720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8B8676"/>
                </a:solidFill>
                <a:latin typeface="Consolas"/>
              </a:rPr>
              <a:t>06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SECURITY &amp; VALIDATION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JWT ownership check on every protected route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Passwords hashed (werkzeug); login can't enumerate accounts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Yup client-side, mirrored by server checks that don't trust the client — claim cap, status rules, ISO-date parsing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097280"/>
            <a:ext cx="46634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TESTING — MANUAL, AND HONEST ABOUT IT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Every workflow walked by hand against a seeded database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454E3E"/>
                </a:solidFill>
                <a:latin typeface="Calibri"/>
              </a:rPr>
              <a:t>•  Three demo farms staged so success / empty / failure states are all reachable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8B8676"/>
                </a:solidFill>
                <a:latin typeface="Calibri"/>
              </a:rPr>
              <a:t>–  No automated suite yet — the claim-eligibility gate is where I'd 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10637215" cy="15240"/>
          </a:xfrm>
          <a:prstGeom prst="rect">
            <a:avLst/>
          </a:prstGeom>
          <a:solidFill>
            <a:srgbClr val="D9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06372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 i="0">
                <a:solidFill>
                  <a:srgbClr val="8B8676"/>
                </a:solidFill>
                <a:latin typeface="Consolas"/>
              </a:rPr>
              <a:t>THE CHALLENGE I SOLVED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454E3E"/>
                </a:solidFill>
                <a:latin typeface="Calibri"/>
              </a:rPr>
              <a:t>The claim gate was already correct server-side — but the UI let a farmer fill in the entire claim form before the 403 came back. Correct isn't the same as usable. I added a pre-check that tells the farmer exactly what's missing — no policy, policy not active, identity not on file — before the form opens.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372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3A6B49"/>
                </a:solidFill>
                <a:latin typeface="Consolas"/>
              </a:rPr>
              <a:t>PERSONAL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51415" y="45720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8B8676"/>
                </a:solidFill>
                <a:latin typeface="Consolas"/>
              </a:rPr>
              <a:t>07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500" b="1" i="0">
                <a:solidFill>
                  <a:srgbClr val="1B2318"/>
                </a:solidFill>
                <a:latin typeface="Georgia"/>
              </a:rPr>
              <a:t>What the training changed about how I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3721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050" b="1" i="0">
                <a:solidFill>
                  <a:srgbClr val="3A6B49"/>
                </a:solidFill>
                <a:latin typeface="Consolas"/>
              </a:rPr>
              <a:t>FAMILIAR GROUND, NEW TOOLS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I'd built back ends before in another language, so REST APIs, routing and working with a database were ideas I already had. Picking up Python and Flask was new syntax over familiar concepts — not starting from 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52928"/>
            <a:ext cx="1063721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050" b="1" i="0">
                <a:solidFill>
                  <a:srgbClr val="3A6B49"/>
                </a:solidFill>
                <a:latin typeface="Consolas"/>
              </a:rPr>
              <a:t>A SHIFT I DIDN'T EXPECT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I went in not expecting to enjoy frontend work. React changed that — thinking in components, with hooks and state, made building the UI feel structured rather than fiddly.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68496"/>
            <a:ext cx="1063721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050" b="1" i="0">
                <a:solidFill>
                  <a:srgbClr val="3A6B49"/>
                </a:solidFill>
                <a:latin typeface="Consolas"/>
              </a:rPr>
              <a:t>THE HARDEST PART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Deploying to AWS — the number of services and manual console steps, and how easy it is to get one wrong.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84064"/>
            <a:ext cx="10637215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050" b="1" i="0">
                <a:solidFill>
                  <a:srgbClr val="3A6B49"/>
                </a:solidFill>
                <a:latin typeface="Consolas"/>
              </a:rPr>
              <a:t>WHAT CLICKED, AND WHAT'S NEXT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250" b="0" i="0">
                <a:solidFill>
                  <a:srgbClr val="454E3E"/>
                </a:solidFill>
                <a:latin typeface="Calibri"/>
              </a:rPr>
              <a:t>Deploying by hand was like cooking from memory every time — miss a step and it's wrong. Terraform is writing the recipe down: the whole stack in code, so it runs the same way twice. Next I want to go deeper on React patterns and Terraform modules.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StockGuard   ·   Thembelihle Zulu   ·   Sanlam 2026 Capstone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25735" y="640080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600"/>
              </a:spcBef>
              <a:spcAft>
                <a:spcPts val="0"/>
              </a:spcAft>
            </a:pPr>
            <a:r>
              <a:rPr sz="900" b="0" i="0">
                <a:solidFill>
                  <a:srgbClr val="8B8676"/>
                </a:solidFill>
                <a:latin typeface="Consolas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